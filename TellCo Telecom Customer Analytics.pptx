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7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4" d="100"/>
          <a:sy n="84" d="100"/>
        </p:scale>
        <p:origin x="-966" y="2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4980500-7A6E-49DE-B631-B95D72C00AD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5DE19D9-492C-4B59-93BB-A0C19ACE6257}" type="datetimeFigureOut">
              <a:rPr lang="en-GB" smtClean="0"/>
              <a:t>15/06/2026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543800" cy="914399"/>
          </a:xfrm>
        </p:spPr>
        <p:txBody>
          <a:bodyPr>
            <a:normAutofit fontScale="90000"/>
          </a:bodyPr>
          <a:lstStyle/>
          <a:p>
            <a:r>
              <a:rPr lang="en-GB" sz="3600" dirty="0" smtClean="0">
                <a:latin typeface="Bodoni MT Black" panose="02070A03080606020203" pitchFamily="18" charset="0"/>
              </a:rPr>
              <a:t>TellCo Telecom Customer Analytics</a:t>
            </a:r>
            <a:endParaRPr lang="en-GB" sz="36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953000"/>
            <a:ext cx="8458200" cy="1447800"/>
          </a:xfrm>
        </p:spPr>
        <p:txBody>
          <a:bodyPr>
            <a:normAutofit fontScale="47500" lnSpcReduction="20000"/>
          </a:bodyPr>
          <a:lstStyle/>
          <a:p>
            <a:endParaRPr lang="en-US" sz="2000" dirty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lvl="1" algn="l"/>
            <a:r>
              <a:rPr lang="en-GB" sz="36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Presented </a:t>
            </a:r>
            <a:r>
              <a:rPr lang="en-GB" sz="36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By:</a:t>
            </a:r>
            <a:r>
              <a:rPr lang="en-GB" sz="36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Komal Jain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6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Submitted To:</a:t>
            </a:r>
            <a:r>
              <a:rPr lang="en-GB" sz="36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NextHikes IT Solutions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GB" sz="36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70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2: Table of Contents (Agenda)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991600" cy="4876800"/>
          </a:xfrm>
        </p:spPr>
        <p:txBody>
          <a:bodyPr>
            <a:normAutofit/>
          </a:bodyPr>
          <a:lstStyle/>
          <a:p>
            <a:r>
              <a:rPr lang="en-GB" sz="2000" b="1" dirty="0" smtClean="0">
                <a:latin typeface="Bell MT" panose="02020503060305020303" pitchFamily="18" charset="0"/>
              </a:rPr>
              <a:t>Bullet Points:</a:t>
            </a:r>
            <a:endParaRPr lang="en-GB" sz="2000" dirty="0" smtClean="0">
              <a:latin typeface="Bell MT" panose="02020503060305020303" pitchFamily="18" charset="0"/>
            </a:endParaRPr>
          </a:p>
          <a:p>
            <a:r>
              <a:rPr lang="en-GB" sz="2000" dirty="0" smtClean="0">
                <a:latin typeface="Bell MT" panose="02020503060305020303" pitchFamily="18" charset="0"/>
              </a:rPr>
              <a:t>Executive Project Overview &amp; Business Drivers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Task 1: Exploratory Data Analysis &amp; Handset Profiling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Task 2: User Engagement Metrics &amp; Clustering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Task 3: Technical Experience &amp; Network KPIs Analysis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Task 4: Satisfaction Scoring Model &amp; Predictive Machine Learning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Enterprise Data Engineering: MS SQL Server Pipeline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Model Lifecycle Tracking: Local MLflow Tracking System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Operational Recommendations &amp; Strategic Roadmaps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59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52400"/>
            <a:ext cx="8382000" cy="1219201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Bodoni MT Black" panose="02070A03080606020203" pitchFamily="18" charset="0"/>
              </a:rPr>
              <a:t>Slide 3: Project Context &amp; Business Objectives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295400"/>
            <a:ext cx="7620000" cy="297180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Bell MT" panose="02020503060305020303" pitchFamily="18" charset="0"/>
              </a:rPr>
              <a:t>Core Text:</a:t>
            </a:r>
            <a:r>
              <a:rPr lang="en-GB" sz="2400" dirty="0">
                <a:solidFill>
                  <a:schemeClr val="tx1"/>
                </a:solidFill>
                <a:latin typeface="Bell MT" panose="02020503060305020303" pitchFamily="18" charset="0"/>
              </a:rPr>
              <a:t> TellCo Telecom is seeking analytical solutions to reduce user churn and optimize Customer Lifetime Value ($CLV$) within a highly competitive market.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Bell MT" panose="02020503060305020303" pitchFamily="18" charset="0"/>
              </a:rPr>
              <a:t>Key Mandates:</a:t>
            </a:r>
            <a:endParaRPr lang="en-GB" sz="2400" dirty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Bell MT" panose="02020503060305020303" pitchFamily="18" charset="0"/>
              </a:rPr>
              <a:t>Translate raw user application sessions into structured, actionable data streams.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Bell MT" panose="02020503060305020303" pitchFamily="18" charset="0"/>
              </a:rPr>
              <a:t>Proactively monitor network anomalies and technical infrastructure constraints.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Bell MT" panose="02020503060305020303" pitchFamily="18" charset="0"/>
              </a:rPr>
              <a:t>Segment engaged and frustrated users to design targeted, high-impact business strategies.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9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533400"/>
            <a:ext cx="7162800" cy="990601"/>
          </a:xfrm>
        </p:spPr>
        <p:txBody>
          <a:bodyPr>
            <a:normAutofit fontScale="90000"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Slide 4: End-to-End Analytics Pipeline Architecture</a:t>
            </a:r>
            <a:endParaRPr lang="en-GB" sz="32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133600"/>
            <a:ext cx="7467600" cy="350520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latin typeface="Bell MT" panose="02020503060305020303" pitchFamily="18" charset="0"/>
              </a:rPr>
              <a:t> The structural foundation of this project is built upon a continuous, production-ready data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ell MT" panose="02020503060305020303" pitchFamily="18" charset="0"/>
              </a:rPr>
              <a:t>Data Cleaning:</a:t>
            </a:r>
            <a:r>
              <a:rPr lang="en-GB" sz="2000" dirty="0" smtClean="0">
                <a:latin typeface="Bell MT" panose="02020503060305020303" pitchFamily="18" charset="0"/>
              </a:rPr>
              <a:t> Eliminating extreme outliers via Interquartile Range (IQR) filtering and treating missing network parameters using median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ell MT" panose="02020503060305020303" pitchFamily="18" charset="0"/>
              </a:rPr>
              <a:t>Feature Scaling:</a:t>
            </a:r>
            <a:r>
              <a:rPr lang="en-GB" sz="2000" dirty="0" smtClean="0">
                <a:latin typeface="Bell MT" panose="02020503060305020303" pitchFamily="18" charset="0"/>
              </a:rPr>
              <a:t> Standardizing behavioral features using Z-score normalization prior to executing distance-based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 smtClean="0">
                <a:latin typeface="Bell MT" panose="02020503060305020303" pitchFamily="18" charset="0"/>
              </a:rPr>
              <a:t>Production Deployment:</a:t>
            </a:r>
            <a:r>
              <a:rPr lang="en-GB" sz="2000" dirty="0" smtClean="0">
                <a:latin typeface="Bell MT" panose="02020503060305020303" pitchFamily="18" charset="0"/>
              </a:rPr>
              <a:t> Writing pipeline outputs directly to an enterprise database server and logging parameters via MLOps hooks.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2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219201"/>
            <a:ext cx="7162800" cy="761999"/>
          </a:xfrm>
        </p:spPr>
        <p:txBody>
          <a:bodyPr>
            <a:normAutofit fontScale="90000"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Slide 5: Task 1 - Exploratory Data Analysis Introduction</a:t>
            </a:r>
            <a:endParaRPr lang="en-GB" sz="32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286000"/>
            <a:ext cx="6553200" cy="2819400"/>
          </a:xfrm>
        </p:spPr>
        <p:txBody>
          <a:bodyPr>
            <a:noAutofit/>
          </a:bodyPr>
          <a:lstStyle/>
          <a:p>
            <a:pPr algn="l">
              <a:buFont typeface="Arial"/>
              <a:buChar char="•"/>
            </a:pPr>
            <a:r>
              <a:rPr lang="en-GB" sz="2000" b="1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Core Text:</a:t>
            </a: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The initial stage of the analytics pipeline focuses on parsing core telemetry fields to understand baseline user behavior.</a:t>
            </a:r>
          </a:p>
          <a:p>
            <a:pPr algn="l">
              <a:buFont typeface="Arial"/>
              <a:buChar char="•"/>
            </a:pPr>
            <a:r>
              <a:rPr lang="en-GB" sz="2000" b="1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Process Pillars:</a:t>
            </a:r>
            <a:endParaRPr lang="en-GB" sz="2000" b="0" i="0" dirty="0" smtClean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Unique identification and tracking of user profiles via identifier codes (MSISDN).</a:t>
            </a:r>
          </a:p>
          <a:p>
            <a:pPr marL="742950" lvl="1" indent="-285750" algn="l">
              <a:buFont typeface="Arial"/>
              <a:buChar char="•"/>
            </a:pP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Aggregating core metrics across user sessions: session frequency, total connection duration, and overall byte volumes.</a:t>
            </a:r>
          </a:p>
          <a:p>
            <a:pPr marL="742950" lvl="1" indent="-285750" algn="l">
              <a:buFont typeface="Arial"/>
              <a:buChar char="•"/>
            </a:pP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Segmentation of application-specific data downloads (</a:t>
            </a:r>
            <a:r>
              <a:rPr lang="en-GB" sz="2000" b="0" i="1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DL</a:t>
            </a: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) and uploads (</a:t>
            </a:r>
            <a:r>
              <a:rPr lang="en-GB" sz="2000" b="0" i="1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UL</a:t>
            </a:r>
            <a:r>
              <a:rPr lang="en-GB" sz="2000" b="0" i="0" dirty="0" smtClean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).</a:t>
            </a:r>
          </a:p>
          <a:p>
            <a:endParaRPr lang="en-GB" sz="20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01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6: Task 1 - Application Traffic Profiling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1"/>
            <a:ext cx="7696200" cy="2209800"/>
          </a:xfrm>
        </p:spPr>
        <p:txBody>
          <a:bodyPr>
            <a:normAutofit fontScale="70000" lnSpcReduction="20000"/>
          </a:bodyPr>
          <a:lstStyle/>
          <a:p>
            <a:r>
              <a:rPr lang="en-GB" sz="2600" b="1" dirty="0" smtClean="0">
                <a:latin typeface="Bell MT" panose="02020503060305020303" pitchFamily="18" charset="0"/>
              </a:rPr>
              <a:t>Core Text:</a:t>
            </a:r>
            <a:r>
              <a:rPr lang="en-GB" sz="2600" dirty="0" smtClean="0">
                <a:latin typeface="Bell MT" panose="02020503060305020303" pitchFamily="18" charset="0"/>
              </a:rPr>
              <a:t> Monitoring application footprints across the subscriber base provides clear visibility into where network data capacity is being consumed.</a:t>
            </a:r>
          </a:p>
          <a:p>
            <a:r>
              <a:rPr lang="en-GB" sz="2600" b="1" dirty="0" smtClean="0">
                <a:latin typeface="Bell MT" panose="02020503060305020303" pitchFamily="18" charset="0"/>
              </a:rPr>
              <a:t>Key Takeaways:</a:t>
            </a:r>
            <a:endParaRPr lang="en-GB" sz="2600" dirty="0" smtClean="0">
              <a:latin typeface="Bell MT" panose="02020503060305020303" pitchFamily="18" charset="0"/>
            </a:endParaRPr>
          </a:p>
          <a:p>
            <a:r>
              <a:rPr lang="en-GB" sz="2600" b="1" dirty="0" smtClean="0">
                <a:latin typeface="Bell MT" panose="02020503060305020303" pitchFamily="18" charset="0"/>
              </a:rPr>
              <a:t>High Loaders:</a:t>
            </a:r>
            <a:r>
              <a:rPr lang="en-GB" sz="2600" dirty="0" smtClean="0">
                <a:latin typeface="Bell MT" panose="02020503060305020303" pitchFamily="18" charset="0"/>
              </a:rPr>
              <a:t> High-definition streaming and modern multimedia entertainment applications consume maximum pipeline capacity.</a:t>
            </a:r>
          </a:p>
          <a:p>
            <a:r>
              <a:rPr lang="en-GB" sz="2600" b="1" dirty="0" smtClean="0">
                <a:latin typeface="Bell MT" panose="02020503060305020303" pitchFamily="18" charset="0"/>
              </a:rPr>
              <a:t>Low Footprint:</a:t>
            </a:r>
            <a:r>
              <a:rPr lang="en-GB" sz="2600" dirty="0" smtClean="0">
                <a:latin typeface="Bell MT" panose="02020503060305020303" pitchFamily="18" charset="0"/>
              </a:rPr>
              <a:t> Standard text-based communication data channels generate minimal pipeline constraints.</a:t>
            </a:r>
          </a:p>
          <a:p>
            <a:endParaRPr lang="en-GB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chart_task1_app_traffic.png</a:t>
            </a:r>
            <a:r>
              <a:rPr kumimoji="0" lang="en-US" alt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 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7" name="Picture 3" descr="C:\Users\hp\Desktop\Telecom_db\chart_task1_app_traff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30" y="3200400"/>
            <a:ext cx="8440292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1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7: Task 1 - Top Handset Models Analysis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1981199"/>
          </a:xfrm>
        </p:spPr>
        <p:txBody>
          <a:bodyPr>
            <a:normAutofit fontScale="92500" lnSpcReduction="20000"/>
          </a:bodyPr>
          <a:lstStyle/>
          <a:p>
            <a:r>
              <a:rPr lang="en-GB" sz="2000" b="1" dirty="0" smtClean="0"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latin typeface="Bell MT" panose="02020503060305020303" pitchFamily="18" charset="0"/>
              </a:rPr>
              <a:t> Analyzing device distribution yields vital insights that validate marketing targeting and assist network infrastructure engineering.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Key Metrics:</a:t>
            </a:r>
            <a:endParaRPr lang="en-GB" sz="2000" dirty="0" smtClean="0">
              <a:latin typeface="Bell MT" panose="02020503060305020303" pitchFamily="18" charset="0"/>
            </a:endParaRPr>
          </a:p>
          <a:p>
            <a:r>
              <a:rPr lang="en-GB" sz="2000" dirty="0" smtClean="0">
                <a:latin typeface="Bell MT" panose="02020503060305020303" pitchFamily="18" charset="0"/>
              </a:rPr>
              <a:t>Device market share shows prominent peaks heavily correlated with flagship smart devices.</a:t>
            </a:r>
          </a:p>
          <a:p>
            <a:r>
              <a:rPr lang="en-GB" sz="2000" dirty="0" smtClean="0">
                <a:latin typeface="Bell MT" panose="02020503060305020303" pitchFamily="18" charset="0"/>
              </a:rPr>
              <a:t>Missing or unmapped handset schemas were filtered out to secure data authenticity.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  <p:pic>
        <p:nvPicPr>
          <p:cNvPr id="2050" name="Picture 2" descr="C:\Users\hp\Desktop\Telecom_db\chart_task3_top_handset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72" y="3429000"/>
            <a:ext cx="842452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13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8: Task 2 - User Engagement Architecture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1"/>
            <a:ext cx="7772400" cy="3657599"/>
          </a:xfrm>
        </p:spPr>
        <p:txBody>
          <a:bodyPr>
            <a:noAutofit/>
          </a:bodyPr>
          <a:lstStyle/>
          <a:p>
            <a:r>
              <a:rPr lang="en-GB" sz="2400" b="1" dirty="0" smtClean="0">
                <a:latin typeface="Bell MT" panose="02020503060305020303" pitchFamily="18" charset="0"/>
              </a:rPr>
              <a:t>Core Text:</a:t>
            </a:r>
            <a:r>
              <a:rPr lang="en-GB" sz="2400" dirty="0" smtClean="0">
                <a:latin typeface="Bell MT" panose="02020503060305020303" pitchFamily="18" charset="0"/>
              </a:rPr>
              <a:t> To effectively isolate and analyze user engagement behavior, we aggregated three fundamental behavioral metrics: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Session Frequency:</a:t>
            </a:r>
            <a:r>
              <a:rPr lang="en-GB" sz="2400" dirty="0" smtClean="0">
                <a:latin typeface="Bell MT" panose="02020503060305020303" pitchFamily="18" charset="0"/>
              </a:rPr>
              <a:t> Total number of times the network was accessed by a unique user.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Session Duration:</a:t>
            </a:r>
            <a:r>
              <a:rPr lang="en-GB" sz="2400" dirty="0" smtClean="0">
                <a:latin typeface="Bell MT" panose="02020503060305020303" pitchFamily="18" charset="0"/>
              </a:rPr>
              <a:t> Aggregated time (in minutes) spent actively connected to the network.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Total Data Volume:</a:t>
            </a:r>
            <a:r>
              <a:rPr lang="en-GB" sz="2400" dirty="0" smtClean="0">
                <a:latin typeface="Bell MT" panose="02020503060305020303" pitchFamily="18" charset="0"/>
              </a:rPr>
              <a:t> Combined volume of data (in Gigabytes) processed during sessions.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Normalization:</a:t>
            </a:r>
            <a:r>
              <a:rPr lang="en-GB" sz="2400" dirty="0" smtClean="0">
                <a:latin typeface="Bell MT" panose="02020503060305020303" pitchFamily="18" charset="0"/>
              </a:rPr>
              <a:t> Matrix dimensions were balanced using StandardScaler to remove scale bias across features.</a:t>
            </a:r>
          </a:p>
          <a:p>
            <a:endParaRPr lang="en-GB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7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Slide 9: Task 2 - K-Means Clustering for Engagement</a:t>
            </a:r>
            <a:endParaRPr lang="en-GB" sz="32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077200" cy="1828801"/>
          </a:xfrm>
        </p:spPr>
        <p:txBody>
          <a:bodyPr>
            <a:normAutofit fontScale="77500" lnSpcReduction="20000"/>
          </a:bodyPr>
          <a:lstStyle/>
          <a:p>
            <a:r>
              <a:rPr lang="en-GB" sz="2000" b="1" dirty="0">
                <a:latin typeface="Bell MT" panose="02020503060305020303" pitchFamily="18" charset="0"/>
              </a:rPr>
              <a:t>Core Text:</a:t>
            </a:r>
            <a:r>
              <a:rPr lang="en-GB" sz="2000" dirty="0">
                <a:latin typeface="Bell MT" panose="02020503060305020303" pitchFamily="18" charset="0"/>
              </a:rPr>
              <a:t> An unsupervised K-Means algorithm ($K=3$) was deployed to mathematically segment the user base into distinct engagement tiers: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Cluster 0 (Low Engagement):</a:t>
            </a:r>
            <a:r>
              <a:rPr lang="en-GB" sz="2000" dirty="0">
                <a:latin typeface="Bell MT" panose="02020503060305020303" pitchFamily="18" charset="0"/>
              </a:rPr>
              <a:t> Characterized by a high user count but low individual connection runtimes.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Cluster 1 (Moderate Users):</a:t>
            </a:r>
            <a:r>
              <a:rPr lang="en-GB" sz="2000" dirty="0">
                <a:latin typeface="Bell MT" panose="02020503060305020303" pitchFamily="18" charset="0"/>
              </a:rPr>
              <a:t> Represents the steady baseline of users with consistent network footprints.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Cluster 2 (Power Streamers):</a:t>
            </a:r>
            <a:r>
              <a:rPr lang="en-GB" sz="2000" dirty="0">
                <a:latin typeface="Bell MT" panose="02020503060305020303" pitchFamily="18" charset="0"/>
              </a:rPr>
              <a:t> The elite high-volume tier driving maximum network utilization.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  <p:pic>
        <p:nvPicPr>
          <p:cNvPr id="3074" name="Picture 2" descr="C:\Users\hp\Desktop\Telecom_db\chart_task2_engagement_clust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5" y="3276600"/>
            <a:ext cx="855889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9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>
                <a:latin typeface="Bodoni MT Black" panose="02070A03080606020203" pitchFamily="18" charset="0"/>
              </a:rPr>
              <a:t>Slide 10: Task 3 - User Technical Experience Modeling</a:t>
            </a:r>
            <a:endParaRPr lang="en-GB" sz="32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14800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Bell MT" panose="02020503060305020303" pitchFamily="18" charset="0"/>
              </a:rPr>
              <a:t>Core Text:</a:t>
            </a:r>
            <a:r>
              <a:rPr lang="en-GB" sz="2400" dirty="0">
                <a:latin typeface="Bell MT" panose="02020503060305020303" pitchFamily="18" charset="0"/>
              </a:rPr>
              <a:t> Profiling client-side technical experience relies heavily on standard network performance indicators logged during sessions:</a:t>
            </a:r>
          </a:p>
          <a:p>
            <a:r>
              <a:rPr lang="en-GB" sz="2400" b="1" dirty="0">
                <a:latin typeface="Bell MT" panose="02020503060305020303" pitchFamily="18" charset="0"/>
              </a:rPr>
              <a:t>Network Latency:</a:t>
            </a:r>
            <a:r>
              <a:rPr lang="en-GB" sz="2400" dirty="0">
                <a:latin typeface="Bell MT" panose="02020503060305020303" pitchFamily="18" charset="0"/>
              </a:rPr>
              <a:t> The average Round-Trip Time ($RTT$) experienced across various applications.</a:t>
            </a:r>
          </a:p>
          <a:p>
            <a:r>
              <a:rPr lang="en-GB" sz="2400" b="1" dirty="0">
                <a:latin typeface="Bell MT" panose="02020503060305020303" pitchFamily="18" charset="0"/>
              </a:rPr>
              <a:t>Packet Stability:</a:t>
            </a:r>
            <a:r>
              <a:rPr lang="en-GB" sz="2400" dirty="0">
                <a:latin typeface="Bell MT" panose="02020503060305020303" pitchFamily="18" charset="0"/>
              </a:rPr>
              <a:t> Average TCP Retransmission rates per device, indicating network congestion or dropouts.</a:t>
            </a:r>
          </a:p>
          <a:p>
            <a:r>
              <a:rPr lang="en-GB" sz="2400" b="1" dirty="0">
                <a:latin typeface="Bell MT" panose="02020503060305020303" pitchFamily="18" charset="0"/>
              </a:rPr>
              <a:t>Bandwidth Capacity:</a:t>
            </a:r>
            <a:r>
              <a:rPr lang="en-GB" sz="2400" dirty="0">
                <a:latin typeface="Bell MT" panose="02020503060305020303" pitchFamily="18" charset="0"/>
              </a:rPr>
              <a:t> Average Throughput levels actively delivered to the end-user.</a:t>
            </a:r>
          </a:p>
          <a:p>
            <a:endParaRPr lang="en-GB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29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11: Task 3 - Network KPIs &amp; Outlier Analysis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1"/>
            <a:ext cx="7848600" cy="3505200"/>
          </a:xfrm>
        </p:spPr>
        <p:txBody>
          <a:bodyPr>
            <a:normAutofit/>
          </a:bodyPr>
          <a:lstStyle/>
          <a:p>
            <a:r>
              <a:rPr lang="en-GB" sz="2200" b="1" dirty="0" smtClean="0">
                <a:latin typeface="Bell MT" panose="02020503060305020303" pitchFamily="18" charset="0"/>
              </a:rPr>
              <a:t>Core Text:</a:t>
            </a:r>
            <a:r>
              <a:rPr lang="en-GB" sz="2200" dirty="0" smtClean="0">
                <a:latin typeface="Bell MT" panose="02020503060305020303" pitchFamily="18" charset="0"/>
              </a:rPr>
              <a:t> Specific threshold frameworks were designed to isolate and treat telemetry anomalies effectively:</a:t>
            </a:r>
          </a:p>
          <a:p>
            <a:r>
              <a:rPr lang="en-GB" sz="2200" dirty="0" smtClean="0">
                <a:latin typeface="Bell MT" panose="02020503060305020303" pitchFamily="18" charset="0"/>
              </a:rPr>
              <a:t>Missing network profiles were accurately imputed using standard distribution median values.</a:t>
            </a:r>
          </a:p>
          <a:p>
            <a:r>
              <a:rPr lang="en-GB" sz="2200" dirty="0" smtClean="0">
                <a:latin typeface="Bell MT" panose="02020503060305020303" pitchFamily="18" charset="0"/>
              </a:rPr>
              <a:t>Flagship devices consistently demonstrated superior throughput capabilities compared to lower-tier alternatives, directly reflecting a higher satisfaction potential</a:t>
            </a:r>
            <a:r>
              <a:rPr lang="en-GB" dirty="0" smtClean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72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12: Task 4 - Satisfaction Scoring Framework</a:t>
            </a:r>
            <a:endParaRPr lang="en-GB" sz="2800" b="1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8001000" cy="4449763"/>
          </a:xfrm>
        </p:spPr>
        <p:txBody>
          <a:bodyPr>
            <a:noAutofit/>
          </a:bodyPr>
          <a:lstStyle/>
          <a:p>
            <a:r>
              <a:rPr lang="en-GB" sz="2000" b="1" dirty="0" smtClean="0"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latin typeface="Bell MT" panose="02020503060305020303" pitchFamily="18" charset="0"/>
              </a:rPr>
              <a:t> To calculate a comprehensive customer satisfaction score, we engineered a spatial coordinate matrix based on Euclidean distance.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Mathematical Logic:</a:t>
            </a:r>
            <a:endParaRPr lang="en-GB" sz="2000" dirty="0" smtClean="0">
              <a:latin typeface="Bell MT" panose="02020503060305020303" pitchFamily="18" charset="0"/>
            </a:endParaRPr>
          </a:p>
          <a:p>
            <a:r>
              <a:rPr lang="en-GB" sz="2000" b="1" dirty="0" smtClean="0">
                <a:latin typeface="Bell MT" panose="02020503060305020303" pitchFamily="18" charset="0"/>
              </a:rPr>
              <a:t>Engagement Score:</a:t>
            </a:r>
            <a:r>
              <a:rPr lang="en-GB" sz="2000" dirty="0" smtClean="0">
                <a:latin typeface="Bell MT" panose="02020503060305020303" pitchFamily="18" charset="0"/>
              </a:rPr>
              <a:t> Derived from the Euclidean distance between a user's metric profile and the least-engaged cluster centroid.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Experience Score:</a:t>
            </a:r>
            <a:r>
              <a:rPr lang="en-GB" sz="2000" dirty="0" smtClean="0">
                <a:latin typeface="Bell MT" panose="02020503060305020303" pitchFamily="18" charset="0"/>
              </a:rPr>
              <a:t> Derived from the Euclidean distance between a user's metric profile and the worst-performing experience cluster centroid.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Final Satisfaction Score:</a:t>
            </a:r>
            <a:r>
              <a:rPr lang="en-GB" sz="2000" dirty="0" smtClean="0">
                <a:latin typeface="Bell MT" panose="02020503060305020303" pitchFamily="18" charset="0"/>
              </a:rPr>
              <a:t> Calculated as the mathematical average of the Engagement and Experience scores.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5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Slide 13: Task 4 - Satisfaction Segmentation (K=2 Clustering)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GB" sz="2000" b="1" dirty="0">
                <a:latin typeface="Bell MT" panose="02020503060305020303" pitchFamily="18" charset="0"/>
              </a:rPr>
              <a:t>Core Text:</a:t>
            </a:r>
            <a:r>
              <a:rPr lang="en-GB" sz="2000" dirty="0">
                <a:latin typeface="Bell MT" panose="02020503060305020303" pitchFamily="18" charset="0"/>
              </a:rPr>
              <a:t> To optimize strategic target groups, user satisfaction metrics were segmented into binary operational categories ($K=2$):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High Satisfaction Cluster:</a:t>
            </a:r>
            <a:r>
              <a:rPr lang="en-GB" sz="2000" dirty="0">
                <a:latin typeface="Bell MT" panose="02020503060305020303" pitchFamily="18" charset="0"/>
              </a:rPr>
              <a:t> Subscribed base enjoying smooth throughput combined with high application interaction.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At-Risk/Frustrated Cluster:</a:t>
            </a:r>
            <a:r>
              <a:rPr lang="en-GB" sz="2000" dirty="0">
                <a:latin typeface="Bell MT" panose="02020503060305020303" pitchFamily="18" charset="0"/>
              </a:rPr>
              <a:t> Users experiencing extreme packet drops or high-latency bottlenecks, making them primary targets for churn.</a:t>
            </a:r>
          </a:p>
          <a:p>
            <a:endParaRPr lang="en-GB" dirty="0"/>
          </a:p>
        </p:txBody>
      </p:sp>
      <p:pic>
        <p:nvPicPr>
          <p:cNvPr id="5122" name="Picture 2" descr="C:\Users\hp\Desktop\Telecom_db\chart_task4_satisfaction_cluste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57600"/>
            <a:ext cx="9064868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7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8305800" cy="990600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Slide 14: Predictive ML - Linear Regression Pipeline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24000"/>
            <a:ext cx="7772400" cy="3657600"/>
          </a:xfrm>
        </p:spPr>
        <p:txBody>
          <a:bodyPr>
            <a:normAutofit fontScale="85000" lnSpcReduction="20000"/>
          </a:bodyPr>
          <a:lstStyle/>
          <a:p>
            <a:r>
              <a:rPr lang="en-GB" sz="2600" b="1" dirty="0">
                <a:latin typeface="Bell MT" panose="02020503060305020303" pitchFamily="18" charset="0"/>
              </a:rPr>
              <a:t>Core Text:</a:t>
            </a:r>
            <a:r>
              <a:rPr lang="en-GB" sz="2600" dirty="0">
                <a:latin typeface="Bell MT" panose="02020503060305020303" pitchFamily="18" charset="0"/>
              </a:rPr>
              <a:t> A supervised predictive model was built to dynamically forecast customer satisfaction scores directly from live network telemetry inputs.</a:t>
            </a:r>
          </a:p>
          <a:p>
            <a:r>
              <a:rPr lang="en-GB" sz="2600" b="1" dirty="0">
                <a:latin typeface="Bell MT" panose="02020503060305020303" pitchFamily="18" charset="0"/>
              </a:rPr>
              <a:t>Feature Mapping:</a:t>
            </a:r>
            <a:r>
              <a:rPr lang="en-GB" sz="2600" dirty="0">
                <a:latin typeface="Bell MT" panose="02020503060305020303" pitchFamily="18" charset="0"/>
              </a:rPr>
              <a:t> Linear activation paths accurately map underlying network features to a continuous satisfaction index value.</a:t>
            </a:r>
          </a:p>
          <a:p>
            <a:r>
              <a:rPr lang="en-GB" sz="2600" b="1" dirty="0">
                <a:latin typeface="Bell MT" panose="02020503060305020303" pitchFamily="18" charset="0"/>
              </a:rPr>
              <a:t>Model Performance Metrics:</a:t>
            </a:r>
            <a:endParaRPr lang="en-GB" sz="2600" dirty="0">
              <a:latin typeface="Bell MT" panose="02020503060305020303" pitchFamily="18" charset="0"/>
            </a:endParaRPr>
          </a:p>
          <a:p>
            <a:r>
              <a:rPr lang="en-GB" sz="2600" dirty="0">
                <a:latin typeface="Bell MT" panose="02020503060305020303" pitchFamily="18" charset="0"/>
              </a:rPr>
              <a:t>Mean Squared Error ($MSE$): </a:t>
            </a:r>
            <a:r>
              <a:rPr lang="en-GB" sz="2600" b="1" dirty="0">
                <a:latin typeface="Bell MT" panose="02020503060305020303" pitchFamily="18" charset="0"/>
              </a:rPr>
              <a:t>0.024</a:t>
            </a:r>
            <a:r>
              <a:rPr lang="en-GB" sz="2600" dirty="0">
                <a:latin typeface="Bell MT" panose="02020503060305020303" pitchFamily="18" charset="0"/>
              </a:rPr>
              <a:t> (Demonstrates minimal prediction error).</a:t>
            </a:r>
          </a:p>
          <a:p>
            <a:r>
              <a:rPr lang="en-GB" sz="2600" dirty="0">
                <a:latin typeface="Bell MT" panose="02020503060305020303" pitchFamily="18" charset="0"/>
              </a:rPr>
              <a:t>R-Squared ($R^2$) Accuracy: </a:t>
            </a:r>
            <a:r>
              <a:rPr lang="en-GB" sz="2600" b="1" dirty="0">
                <a:latin typeface="Bell MT" panose="02020503060305020303" pitchFamily="18" charset="0"/>
              </a:rPr>
              <a:t>0.895</a:t>
            </a:r>
            <a:r>
              <a:rPr lang="en-GB" sz="2600" dirty="0">
                <a:latin typeface="Bell MT" panose="02020503060305020303" pitchFamily="18" charset="0"/>
              </a:rPr>
              <a:t> (Explains approximately 90% of the variance within the dataset).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99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15: Enterprise Data Engineering: MS SQL Server Setup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latin typeface="Bell MT" panose="02020503060305020303" pitchFamily="18" charset="0"/>
              </a:rPr>
              <a:t>Core Text:</a:t>
            </a:r>
            <a:r>
              <a:rPr lang="en-GB" sz="2400" dirty="0" smtClean="0">
                <a:latin typeface="Bell MT" panose="02020503060305020303" pitchFamily="18" charset="0"/>
              </a:rPr>
              <a:t> Integrating data pipelines with relational database layers is essential for automating business intelligence and enterprise reporting.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Database Engine:</a:t>
            </a:r>
            <a:r>
              <a:rPr lang="en-GB" sz="2400" dirty="0" smtClean="0">
                <a:latin typeface="Bell MT" panose="02020503060305020303" pitchFamily="18" charset="0"/>
              </a:rPr>
              <a:t> Microsoft SQL Server Express Core Enterprise Edition.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Database Schema Context:</a:t>
            </a:r>
            <a:r>
              <a:rPr lang="en-GB" sz="2400" dirty="0" smtClean="0">
                <a:latin typeface="Bell MT" panose="02020503060305020303" pitchFamily="18" charset="0"/>
              </a:rPr>
              <a:t> Configured under the dedicated namespace </a:t>
            </a:r>
            <a:r>
              <a:rPr lang="en-GB" sz="2000" dirty="0" smtClean="0">
                <a:latin typeface="Bell MT" panose="02020503060305020303" pitchFamily="18" charset="0"/>
              </a:rPr>
              <a:t>tellco_db</a:t>
            </a:r>
            <a:r>
              <a:rPr lang="en-GB" sz="2400" dirty="0" smtClean="0">
                <a:latin typeface="Bell MT" panose="02020503060305020303" pitchFamily="18" charset="0"/>
              </a:rPr>
              <a:t>.</a:t>
            </a:r>
          </a:p>
          <a:p>
            <a:r>
              <a:rPr lang="en-GB" sz="2400" b="1" dirty="0" smtClean="0">
                <a:latin typeface="Bell MT" panose="02020503060305020303" pitchFamily="18" charset="0"/>
              </a:rPr>
              <a:t>Data Object:</a:t>
            </a:r>
            <a:r>
              <a:rPr lang="en-GB" sz="2400" dirty="0" smtClean="0">
                <a:latin typeface="Bell MT" panose="02020503060305020303" pitchFamily="18" charset="0"/>
              </a:rPr>
              <a:t> Persistent, production-ready storage table structured as user_satisfaction.</a:t>
            </a:r>
          </a:p>
          <a:p>
            <a:endParaRPr lang="en-GB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7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43000" y="304801"/>
            <a:ext cx="7010400" cy="1066800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16: SQL Pipeline Validation &amp; Execution Log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7924800" cy="1600200"/>
          </a:xfrm>
        </p:spPr>
        <p:txBody>
          <a:bodyPr>
            <a:noAutofit/>
          </a:bodyPr>
          <a:lstStyle/>
          <a:p>
            <a:r>
              <a:rPr lang="en-GB" sz="20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Python automation scripts leverage the pyodbc framework to stream in-memory dataframes into high-speed relational server layers.</a:t>
            </a:r>
          </a:p>
          <a:p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Automatic system checks drop preexisting tables securely before initiating a new write sequence.</a:t>
            </a:r>
          </a:p>
          <a:p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The implementation of fast_executemany ensures bulk batches are processed with optimal execution speed.</a:t>
            </a:r>
          </a:p>
          <a:p>
            <a:endParaRPr lang="en-GB" sz="20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Picture 2" descr="C:\Users\hp\Desktop\Telecom_db\Screenshot 2026-06-11 10123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67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Slide 17: Production Live Queries Verification (SSMS)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1"/>
            <a:ext cx="8077200" cy="3505200"/>
          </a:xfrm>
        </p:spPr>
        <p:txBody>
          <a:bodyPr>
            <a:normAutofit/>
          </a:bodyPr>
          <a:lstStyle/>
          <a:p>
            <a:r>
              <a:rPr lang="en-GB" sz="1800" b="1" dirty="0" smtClean="0">
                <a:latin typeface="Bell MT" panose="02020503060305020303" pitchFamily="18" charset="0"/>
              </a:rPr>
              <a:t>Core Text:</a:t>
            </a:r>
            <a:r>
              <a:rPr lang="en-GB" sz="1800" dirty="0" smtClean="0">
                <a:latin typeface="Bell MT" panose="02020503060305020303" pitchFamily="18" charset="0"/>
              </a:rPr>
              <a:t> Live server verifications confirm that analytical scores are successfully stored in persistent index fields within the database engine.</a:t>
            </a:r>
          </a:p>
          <a:p>
            <a:r>
              <a:rPr lang="en-GB" sz="1800" dirty="0" smtClean="0">
                <a:latin typeface="Bell MT" panose="02020503060305020303" pitchFamily="18" charset="0"/>
              </a:rPr>
              <a:t>Execution context and query structures were verified directly via SQL Server Management Studio (SSMS).</a:t>
            </a:r>
          </a:p>
          <a:p>
            <a:r>
              <a:rPr lang="en-GB" sz="1800" dirty="0" smtClean="0">
                <a:latin typeface="Bell MT" panose="02020503060305020303" pitchFamily="18" charset="0"/>
              </a:rPr>
              <a:t>Operational business dashboards can now query this live database layer to pull real-time updates automatically.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557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7772400" cy="1371599"/>
          </a:xfrm>
        </p:spPr>
        <p:txBody>
          <a:bodyPr>
            <a:normAutofit/>
          </a:bodyPr>
          <a:lstStyle/>
          <a:p>
            <a:r>
              <a:rPr lang="en-GB" sz="2800" dirty="0" smtClean="0">
                <a:latin typeface="Bodoni MT Black" panose="02070A03080606020203" pitchFamily="18" charset="0"/>
              </a:rPr>
              <a:t>Slide 18: MLOps: Local Experiment Tracking Engine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057400"/>
            <a:ext cx="7924800" cy="3657600"/>
          </a:xfrm>
        </p:spPr>
        <p:txBody>
          <a:bodyPr>
            <a:normAutofit/>
          </a:bodyPr>
          <a:lstStyle/>
          <a:p>
            <a:r>
              <a:rPr lang="en-GB" sz="20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Maintaining model reproducibility and rigorous parameter auditing requires a centralized machine learning lifecycle tracking system.</a:t>
            </a:r>
          </a:p>
          <a:p>
            <a:r>
              <a:rPr lang="en-GB" sz="20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System </a:t>
            </a: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Architecture</a:t>
            </a:r>
            <a:r>
              <a:rPr lang="en-GB" sz="20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:</a:t>
            </a: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A decoupled local storage system was deployed to isolate data dependencies via local file tracking layers.</a:t>
            </a:r>
          </a:p>
          <a:p>
            <a:r>
              <a:rPr lang="en-GB" sz="2000" b="1" dirty="0" smtClean="0">
                <a:solidFill>
                  <a:schemeClr val="tx1"/>
                </a:solidFill>
                <a:latin typeface="Bell MT" panose="02020503060305020303" pitchFamily="18" charset="0"/>
              </a:rPr>
              <a:t>Target Root Directory:</a:t>
            </a:r>
            <a:r>
              <a:rPr lang="en-GB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Automated tracking metadata is securely routed directly inside the project workspace directory (./mlruns).</a:t>
            </a:r>
          </a:p>
          <a:p>
            <a:endParaRPr lang="en-GB" sz="2000" b="1" strike="sngStrike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901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600" dirty="0" smtClean="0">
                <a:latin typeface="Bodoni MT Black" panose="02070A03080606020203" pitchFamily="18" charset="0"/>
              </a:rPr>
              <a:t>Slide 19: MLflow Metadata &amp; </a:t>
            </a:r>
            <a:r>
              <a:rPr lang="en-GB" sz="2200" dirty="0" smtClean="0">
                <a:latin typeface="Bodoni MT Black" panose="02070A03080606020203" pitchFamily="18" charset="0"/>
              </a:rPr>
              <a:t>Artifact</a:t>
            </a:r>
            <a:r>
              <a:rPr lang="en-GB" sz="3600" dirty="0" smtClean="0">
                <a:latin typeface="Bodoni MT Black" panose="02070A03080606020203" pitchFamily="18" charset="0"/>
              </a:rPr>
              <a:t> Audit Logs</a:t>
            </a:r>
            <a:endParaRPr lang="en-GB" sz="36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>
                <a:latin typeface="Bell MT" panose="02020503060305020303" pitchFamily="18" charset="0"/>
              </a:rPr>
              <a:t>Core Text:</a:t>
            </a:r>
            <a:r>
              <a:rPr lang="en-GB" sz="2000" dirty="0">
                <a:latin typeface="Bell MT" panose="02020503060305020303" pitchFamily="18" charset="0"/>
              </a:rPr>
              <a:t> The MLflow environment captures and logs essential pipeline telemetry parameters dynamically: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Parameters Saved:</a:t>
            </a:r>
            <a:r>
              <a:rPr lang="en-GB" sz="2000" dirty="0">
                <a:latin typeface="Bell MT" panose="02020503060305020303" pitchFamily="18" charset="0"/>
              </a:rPr>
              <a:t> Principal Component Analysis (PCA) components, specific model hyperparameters, and execution connection strings.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Metrics Tracked:</a:t>
            </a:r>
            <a:r>
              <a:rPr lang="en-GB" sz="2000" dirty="0">
                <a:latin typeface="Bell MT" panose="02020503060305020303" pitchFamily="18" charset="0"/>
              </a:rPr>
              <a:t> Computational runtime duration, evaluation MSE scores, and normalized $R^2$ accuracy values.</a:t>
            </a:r>
          </a:p>
          <a:p>
            <a:r>
              <a:rPr lang="en-GB" sz="2000" b="1" dirty="0">
                <a:latin typeface="Bell MT" panose="02020503060305020303" pitchFamily="18" charset="0"/>
              </a:rPr>
              <a:t>Artifacts Persistent:</a:t>
            </a:r>
            <a:r>
              <a:rPr lang="en-GB" sz="2000" dirty="0">
                <a:latin typeface="Bell MT" panose="02020503060305020303" pitchFamily="18" charset="0"/>
              </a:rPr>
              <a:t> Serialized binary Python pickle objects containing trained Scikit-Learn models.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9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>
                <a:latin typeface="Bodoni MT Black" panose="02070A03080606020203" pitchFamily="18" charset="0"/>
              </a:rPr>
              <a:t>Slide 20: Business Recommendations &amp; Strategy Roadmap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 smtClean="0">
                <a:latin typeface="Bell MT" panose="02020503060305020303" pitchFamily="18" charset="0"/>
              </a:rPr>
              <a:t>Core Text:</a:t>
            </a:r>
            <a:r>
              <a:rPr lang="en-GB" sz="2000" dirty="0" smtClean="0">
                <a:latin typeface="Bell MT" panose="02020503060305020303" pitchFamily="18" charset="0"/>
              </a:rPr>
              <a:t> Strategic execution guidelines designed for TellCo executives to drive revenue and lower churn: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Network Optimization:</a:t>
            </a:r>
            <a:r>
              <a:rPr lang="en-GB" sz="2000" dirty="0" smtClean="0">
                <a:latin typeface="Bell MT" panose="02020503060305020303" pitchFamily="18" charset="0"/>
              </a:rPr>
              <a:t> Allocate infrastructure resources toward high-capacity applications (e.g., streaming and gaming) to relieve traffic bottlenecks.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Proactive Loyalty Campaigns:</a:t>
            </a:r>
            <a:r>
              <a:rPr lang="en-GB" sz="2000" dirty="0" smtClean="0">
                <a:latin typeface="Bell MT" panose="02020503060305020303" pitchFamily="18" charset="0"/>
              </a:rPr>
              <a:t> Enable customer retention teams to push early target offers to users flagged in the frustrated satisfaction tier.</a:t>
            </a:r>
          </a:p>
          <a:p>
            <a:r>
              <a:rPr lang="en-GB" sz="2000" b="1" dirty="0" smtClean="0">
                <a:latin typeface="Bell MT" panose="02020503060305020303" pitchFamily="18" charset="0"/>
              </a:rPr>
              <a:t>Continuous Integration:</a:t>
            </a:r>
            <a:r>
              <a:rPr lang="en-GB" sz="2000" dirty="0" smtClean="0">
                <a:latin typeface="Bell MT" panose="02020503060305020303" pitchFamily="18" charset="0"/>
              </a:rPr>
              <a:t> Schedule automated batch scripts to bridge this analytical scoring model directly with real-time customer support dashboards.</a:t>
            </a:r>
          </a:p>
          <a:p>
            <a:endParaRPr lang="en-GB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686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</TotalTime>
  <Words>1406</Words>
  <Application>Microsoft Office PowerPoint</Application>
  <PresentationFormat>On-screen Show (4:3)</PresentationFormat>
  <Paragraphs>109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Adjacency</vt:lpstr>
      <vt:lpstr>TellCo Telecom Customer Analytics</vt:lpstr>
      <vt:lpstr>2: Table of Contents (Agenda)</vt:lpstr>
      <vt:lpstr>Slide 3: Project Context &amp; Business Objectives</vt:lpstr>
      <vt:lpstr>Slide 4: End-to-End Analytics Pipeline Architecture</vt:lpstr>
      <vt:lpstr>Slide 5: Task 1 - Exploratory Data Analysis Introduction</vt:lpstr>
      <vt:lpstr>Slide 6: Task 1 - Application Traffic Profiling</vt:lpstr>
      <vt:lpstr>Slide 7: Task 1 - Top Handset Models Analysis</vt:lpstr>
      <vt:lpstr>Slide 8: Task 2 - User Engagement Architecture</vt:lpstr>
      <vt:lpstr>Slide 9: Task 2 - K-Means Clustering for Engagement</vt:lpstr>
      <vt:lpstr>Slide 10: Task 3 - User Technical Experience Modeling</vt:lpstr>
      <vt:lpstr>Slide 11: Task 3 - Network KPIs &amp; Outlier Analysis</vt:lpstr>
      <vt:lpstr>Slide 12: Task 4 - Satisfaction Scoring Framework</vt:lpstr>
      <vt:lpstr>Slide 13: Task 4 - Satisfaction Segmentation (K=2 Clustering)</vt:lpstr>
      <vt:lpstr>Slide 14: Predictive ML - Linear Regression Pipeline</vt:lpstr>
      <vt:lpstr>Slide 15: Enterprise Data Engineering: MS SQL Server Setup</vt:lpstr>
      <vt:lpstr>Slide 16: SQL Pipeline Validation &amp; Execution Log</vt:lpstr>
      <vt:lpstr>Slide 17: Production Live Queries Verification (SSMS)</vt:lpstr>
      <vt:lpstr>Slide 18: MLOps: Local Experiment Tracking Engine</vt:lpstr>
      <vt:lpstr>Slide 19: MLflow Metadata &amp; Artifact Audit Logs</vt:lpstr>
      <vt:lpstr>Slide 20: Business Recommendations &amp; Strategy Roadmap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Telecom Customer Analytics</dc:title>
  <dc:creator>hp</dc:creator>
  <cp:lastModifiedBy>hp</cp:lastModifiedBy>
  <cp:revision>17</cp:revision>
  <dcterms:created xsi:type="dcterms:W3CDTF">2026-06-15T11:44:16Z</dcterms:created>
  <dcterms:modified xsi:type="dcterms:W3CDTF">2026-06-16T08:45:50Z</dcterms:modified>
</cp:coreProperties>
</file>